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1" r:id="rId1"/>
  </p:sldMasterIdLst>
  <p:notesMasterIdLst>
    <p:notesMasterId r:id="rId5"/>
  </p:notesMasterIdLst>
  <p:sldIdLst>
    <p:sldId id="287" r:id="rId2"/>
    <p:sldId id="315" r:id="rId3"/>
    <p:sldId id="316" r:id="rId4"/>
  </p:sldIdLst>
  <p:sldSz cx="24384000" cy="13716000"/>
  <p:notesSz cx="7010400" cy="9296400"/>
  <p:embeddedFontLst>
    <p:embeddedFont>
      <p:font typeface="PP Mori Regular" panose="020B0604020202020204" charset="0"/>
      <p:regular r:id="rId6"/>
      <p:bold r:id="rId7"/>
      <p:italic r:id="rId8"/>
      <p:boldItalic r:id="rId9"/>
    </p:embeddedFont>
    <p:embeddedFont>
      <p:font typeface="PP Mori SemiBold" panose="020B060402020202020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P Mori Regular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P Mori Regular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P Mori Regular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P Mori Regular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P Mori Regular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P Mori Regular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P Mori Regular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P Mori Regular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P Mori Regular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A842"/>
    <a:srgbClr val="0089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F97854-4C84-3D7C-E71E-A9B582287478}" v="425" dt="2026-03-09T00:42:53.314"/>
    <p1510:client id="{A2C05085-8E76-4B6E-8AF9-8E43361AAF8C}" v="36" dt="2026-03-08T01:57:25.4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76"/>
    <p:restoredTop sz="94404" autoAdjust="0"/>
  </p:normalViewPr>
  <p:slideViewPr>
    <p:cSldViewPr snapToGrid="0">
      <p:cViewPr>
        <p:scale>
          <a:sx n="41" d="100"/>
          <a:sy n="41" d="100"/>
        </p:scale>
        <p:origin x="2124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34C81F-4211-57BA-2B3D-9C3948768C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2ED153-AEC5-7FB8-BDD4-4B2517B36F9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73393E0-C6DF-4AC6-8FFA-409BE960DE20}" type="datetimeFigureOut">
              <a:rPr lang="en-US"/>
              <a:pPr>
                <a:defRPr/>
              </a:pPr>
              <a:t>3/8/2026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ED5E052-CAF6-0942-D8D3-C04C1E1C7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28A84FD-E1DA-6194-ADA9-1DB98E19B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E91AB-9C5C-5994-C214-23FD574C7D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5C22F-CC4E-1F72-02C4-A249B9F84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FFD7B50-173A-46AC-AF2B-8D9A0EE539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61DF5ABC-FE22-C69E-19C6-4C0B22EA3D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AF632F4-39AB-6F02-F848-D04664E1B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7B46894D-46B2-335B-6E86-5E98319773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PP Mori Regular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PP Mori Regular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PP Mori Regular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PP Mori Regular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PP Mori Regular" charset="0"/>
              </a:defRPr>
            </a:lvl5pPr>
            <a:lvl6pPr marL="2562377" indent="-232943" defTabSz="4658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P Mori Regular" charset="0"/>
              </a:defRPr>
            </a:lvl6pPr>
            <a:lvl7pPr marL="3028264" indent="-232943" defTabSz="4658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P Mori Regular" charset="0"/>
              </a:defRPr>
            </a:lvl7pPr>
            <a:lvl8pPr marL="3494151" indent="-232943" defTabSz="4658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P Mori Regular" charset="0"/>
              </a:defRPr>
            </a:lvl8pPr>
            <a:lvl9pPr marL="3960038" indent="-232943" defTabSz="4658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P Mori Regular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28B4481-574D-4925-B856-F3BCEF1C2D58}" type="slidenum">
              <a:rPr lang="en-US" altLang="en-US" smtClean="0"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C3535802-FFDC-478C-1023-54ACEB7FA5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24380825" cy="137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AAN Dark Logo">
            <a:extLst>
              <a:ext uri="{FF2B5EF4-FFF2-40B4-BE49-F238E27FC236}">
                <a16:creationId xmlns:a16="http://schemas.microsoft.com/office/drawing/2014/main" id="{92BE91BD-2938-B395-D6B1-2CA5944874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2775" y="11383963"/>
            <a:ext cx="4098925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778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opic title slide">
    <p:bg>
      <p:bgPr>
        <a:solidFill>
          <a:srgbClr val="08A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upergraphic">
            <a:extLst>
              <a:ext uri="{FF2B5EF4-FFF2-40B4-BE49-F238E27FC236}">
                <a16:creationId xmlns:a16="http://schemas.microsoft.com/office/drawing/2014/main" id="{CEEBBB38-35DA-9E97-CC21-EE75EA37AC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" b="365"/>
          <a:stretch>
            <a:fillRect/>
          </a:stretch>
        </p:blipFill>
        <p:spPr bwMode="auto"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AAN Dark Logo">
            <a:extLst>
              <a:ext uri="{FF2B5EF4-FFF2-40B4-BE49-F238E27FC236}">
                <a16:creationId xmlns:a16="http://schemas.microsoft.com/office/drawing/2014/main" id="{C4C47BF9-CDE6-C84A-117C-96AC883D84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2775" y="11383963"/>
            <a:ext cx="4098925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5869" y="7760406"/>
            <a:ext cx="22550676" cy="2958948"/>
          </a:xfr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tx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5869" y="2857501"/>
            <a:ext cx="22550676" cy="4831495"/>
          </a:xfrm>
        </p:spPr>
        <p:txBody>
          <a:bodyPr anchor="b">
            <a:noAutofit/>
          </a:bodyPr>
          <a:lstStyle>
            <a:lvl1pPr algn="l">
              <a:defRPr sz="12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25CF9F4-7A94-7699-97B4-75A759A3BA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15988" y="12834938"/>
            <a:ext cx="7351712" cy="719137"/>
          </a:xfrm>
          <a:prstGeom prst="rect">
            <a:avLst/>
          </a:prstGeom>
        </p:spPr>
        <p:txBody>
          <a:bodyPr anchor="ctr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6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© 2026 American Academy of Neurology</a:t>
            </a:r>
          </a:p>
        </p:txBody>
      </p:sp>
    </p:spTree>
    <p:extLst>
      <p:ext uri="{BB962C8B-B14F-4D97-AF65-F5344CB8AC3E}">
        <p14:creationId xmlns:p14="http://schemas.microsoft.com/office/powerpoint/2010/main" val="3667457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+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3">
            <a:extLst>
              <a:ext uri="{FF2B5EF4-FFF2-40B4-BE49-F238E27FC236}">
                <a16:creationId xmlns:a16="http://schemas.microsoft.com/office/drawing/2014/main" id="{B4CD8CFE-2668-8444-35F3-D2D7D6ADA8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" b="8"/>
          <a:stretch>
            <a:fillRect/>
          </a:stretch>
        </p:blipFill>
        <p:spPr bwMode="auto"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AAN Dark Logo">
            <a:extLst>
              <a:ext uri="{FF2B5EF4-FFF2-40B4-BE49-F238E27FC236}">
                <a16:creationId xmlns:a16="http://schemas.microsoft.com/office/drawing/2014/main" id="{89383538-1390-445F-411E-ADAC9D794F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2775" y="11383963"/>
            <a:ext cx="4098925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 Section Text"/>
          <p:cNvSpPr>
            <a:spLocks noGrp="1"/>
          </p:cNvSpPr>
          <p:nvPr>
            <p:ph type="body" idx="1"/>
          </p:nvPr>
        </p:nvSpPr>
        <p:spPr>
          <a:xfrm>
            <a:off x="915870" y="9117625"/>
            <a:ext cx="18618095" cy="664797"/>
          </a:xfrm>
        </p:spPr>
        <p:txBody>
          <a:bodyPr>
            <a:spAutoFit/>
          </a:bodyPr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ection Text"/>
          <p:cNvSpPr>
            <a:spLocks noGrp="1"/>
          </p:cNvSpPr>
          <p:nvPr>
            <p:ph type="title"/>
          </p:nvPr>
        </p:nvSpPr>
        <p:spPr>
          <a:xfrm>
            <a:off x="915869" y="7154284"/>
            <a:ext cx="18618095" cy="1384995"/>
          </a:xfrm>
        </p:spPr>
        <p:txBody>
          <a:bodyPr wrap="square" anchor="b">
            <a:spAutoFit/>
          </a:bodyPr>
          <a:lstStyle>
            <a:lvl1pPr>
              <a:defRPr sz="10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101ABFE2-550B-BB17-E029-CADE3D4195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15988" y="12834938"/>
            <a:ext cx="7351712" cy="719137"/>
          </a:xfrm>
          <a:prstGeom prst="rect">
            <a:avLst/>
          </a:prstGeom>
        </p:spPr>
        <p:txBody>
          <a:bodyPr anchor="ctr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6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© 2026 American Academy of Neurology</a:t>
            </a:r>
          </a:p>
        </p:txBody>
      </p:sp>
    </p:spTree>
    <p:extLst>
      <p:ext uri="{BB962C8B-B14F-4D97-AF65-F5344CB8AC3E}">
        <p14:creationId xmlns:p14="http://schemas.microsoft.com/office/powerpoint/2010/main" val="795200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+bullets 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9D2626B5-088C-7DCD-EA2A-7D1EA0D7C1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0338" y="-46038"/>
            <a:ext cx="2489201" cy="138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AAN Dark Logo">
            <a:extLst>
              <a:ext uri="{FF2B5EF4-FFF2-40B4-BE49-F238E27FC236}">
                <a16:creationId xmlns:a16="http://schemas.microsoft.com/office/drawing/2014/main" id="{301BACD1-BB73-088F-40BF-6248DF6FB4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2775" y="11383963"/>
            <a:ext cx="4098925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Text"/>
          <p:cNvSpPr>
            <a:spLocks noGrp="1"/>
          </p:cNvSpPr>
          <p:nvPr>
            <p:ph idx="1"/>
          </p:nvPr>
        </p:nvSpPr>
        <p:spPr>
          <a:xfrm>
            <a:off x="2669700" y="3200401"/>
            <a:ext cx="20796845" cy="8183484"/>
          </a:xfrm>
        </p:spPr>
        <p:txBody>
          <a:bodyPr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Header Text"/>
          <p:cNvSpPr>
            <a:spLocks noGrp="1"/>
          </p:cNvSpPr>
          <p:nvPr>
            <p:ph type="title"/>
          </p:nvPr>
        </p:nvSpPr>
        <p:spPr>
          <a:xfrm>
            <a:off x="2669700" y="914400"/>
            <a:ext cx="20796846" cy="19431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10C67F6C-A484-B407-378F-2B8DE492DC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670175" y="12838113"/>
            <a:ext cx="7351713" cy="719137"/>
          </a:xfrm>
          <a:prstGeom prst="rect">
            <a:avLst/>
          </a:prstGeom>
        </p:spPr>
        <p:txBody>
          <a:bodyPr anchor="ctr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6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© 2026 American Academy of Neurology</a:t>
            </a:r>
          </a:p>
        </p:txBody>
      </p:sp>
    </p:spTree>
    <p:extLst>
      <p:ext uri="{BB962C8B-B14F-4D97-AF65-F5344CB8AC3E}">
        <p14:creationId xmlns:p14="http://schemas.microsoft.com/office/powerpoint/2010/main" val="2220671182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+bullets 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AN Dark Logo">
            <a:extLst>
              <a:ext uri="{FF2B5EF4-FFF2-40B4-BE49-F238E27FC236}">
                <a16:creationId xmlns:a16="http://schemas.microsoft.com/office/drawing/2014/main" id="{D2211428-F105-7554-F6B8-3D52B9EB04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2850" y="12238038"/>
            <a:ext cx="22288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82688BE0-6E29-DFB3-CD4B-82D8065E9CC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4461788" cy="177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ight Column Content Text"/>
          <p:cNvSpPr>
            <a:spLocks noGrp="1"/>
          </p:cNvSpPr>
          <p:nvPr>
            <p:ph sz="quarter" idx="4"/>
          </p:nvPr>
        </p:nvSpPr>
        <p:spPr>
          <a:xfrm>
            <a:off x="13272312" y="4885819"/>
            <a:ext cx="10194233" cy="3255250"/>
          </a:xfrm>
        </p:spPr>
        <p:txBody>
          <a:bodyPr>
            <a:spAutoFit/>
          </a:bodyPr>
          <a:lstStyle>
            <a:lvl1pPr>
              <a:defRPr sz="5400"/>
            </a:lvl1pPr>
            <a:lvl2pPr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lang="en-US" sz="4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8138" indent="-193675">
              <a:buClr>
                <a:schemeClr val="accent3"/>
              </a:buClr>
              <a:buSzPct val="110000"/>
              <a:tabLst/>
              <a:def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ight Column Head Text"/>
          <p:cNvSpPr>
            <a:spLocks noGrp="1"/>
          </p:cNvSpPr>
          <p:nvPr>
            <p:ph type="body" sz="quarter" idx="3"/>
          </p:nvPr>
        </p:nvSpPr>
        <p:spPr>
          <a:xfrm>
            <a:off x="13272312" y="3210479"/>
            <a:ext cx="10194233" cy="664797"/>
          </a:xfrm>
        </p:spPr>
        <p:txBody>
          <a:bodyPr>
            <a:spAutoFit/>
          </a:bodyPr>
          <a:lstStyle>
            <a:lvl1pPr marL="0" indent="0">
              <a:buNone/>
              <a:defRPr sz="4800" b="1">
                <a:latin typeface="+mj-lt"/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Left Column Content Text"/>
          <p:cNvSpPr>
            <a:spLocks noGrp="1"/>
          </p:cNvSpPr>
          <p:nvPr>
            <p:ph sz="half" idx="2"/>
          </p:nvPr>
        </p:nvSpPr>
        <p:spPr>
          <a:xfrm>
            <a:off x="2669701" y="4885819"/>
            <a:ext cx="10194233" cy="3255250"/>
          </a:xfrm>
        </p:spPr>
        <p:txBody>
          <a:bodyPr>
            <a:spAutoFit/>
          </a:bodyPr>
          <a:lstStyle>
            <a:lvl1pPr>
              <a:defRPr sz="5400"/>
            </a:lvl1pPr>
            <a:lvl2pPr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4400"/>
            </a:lvl2pPr>
            <a:lvl3pPr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3600"/>
            </a:lvl3pPr>
            <a:lvl4pPr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3200"/>
            </a:lvl4pPr>
            <a:lvl5pPr marL="1663700" indent="-241300">
              <a:buClr>
                <a:schemeClr val="accent3"/>
              </a:buClr>
              <a:buSzPct val="110000"/>
              <a:tabLst/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Left Column Head Text"/>
          <p:cNvSpPr>
            <a:spLocks noGrp="1"/>
          </p:cNvSpPr>
          <p:nvPr>
            <p:ph type="body" idx="1"/>
          </p:nvPr>
        </p:nvSpPr>
        <p:spPr>
          <a:xfrm>
            <a:off x="2669701" y="3200401"/>
            <a:ext cx="10194233" cy="664797"/>
          </a:xfrm>
        </p:spPr>
        <p:txBody>
          <a:bodyPr>
            <a:spAutoFit/>
          </a:bodyPr>
          <a:lstStyle>
            <a:lvl1pPr marL="0" indent="0">
              <a:buNone/>
              <a:defRPr sz="4800" b="0">
                <a:latin typeface="+mj-lt"/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Header Text"/>
          <p:cNvSpPr>
            <a:spLocks noGrp="1"/>
          </p:cNvSpPr>
          <p:nvPr>
            <p:ph type="title"/>
          </p:nvPr>
        </p:nvSpPr>
        <p:spPr>
          <a:xfrm>
            <a:off x="2669701" y="914400"/>
            <a:ext cx="20796843" cy="1950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444B7053-1855-6FCA-E97C-36CE8868D1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670175" y="12834938"/>
            <a:ext cx="7351713" cy="719137"/>
          </a:xfrm>
          <a:prstGeom prst="rect">
            <a:avLst/>
          </a:prstGeom>
        </p:spPr>
        <p:txBody>
          <a:bodyPr anchor="ctr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6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© 2026 American Academy of Neurology</a:t>
            </a:r>
          </a:p>
        </p:txBody>
      </p:sp>
    </p:spTree>
    <p:extLst>
      <p:ext uri="{BB962C8B-B14F-4D97-AF65-F5344CB8AC3E}">
        <p14:creationId xmlns:p14="http://schemas.microsoft.com/office/powerpoint/2010/main" val="2495128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op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AN Dark Logo">
            <a:extLst>
              <a:ext uri="{FF2B5EF4-FFF2-40B4-BE49-F238E27FC236}">
                <a16:creationId xmlns:a16="http://schemas.microsoft.com/office/drawing/2014/main" id="{F48D514F-647C-1055-9D0A-44ECFCDC19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2775" y="11383963"/>
            <a:ext cx="4098925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2D07E7D-7230-54AF-DD64-2D31555EA2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0338" y="-46038"/>
            <a:ext cx="2489201" cy="138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Header Text"/>
          <p:cNvSpPr>
            <a:spLocks noGrp="1"/>
          </p:cNvSpPr>
          <p:nvPr>
            <p:ph type="title"/>
          </p:nvPr>
        </p:nvSpPr>
        <p:spPr>
          <a:xfrm>
            <a:off x="2669700" y="914400"/>
            <a:ext cx="20796844" cy="19431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1550ED2-37B3-3FC6-057D-880506F595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670175" y="12834938"/>
            <a:ext cx="7351713" cy="719137"/>
          </a:xfrm>
          <a:prstGeom prst="rect">
            <a:avLst/>
          </a:prstGeom>
        </p:spPr>
        <p:txBody>
          <a:bodyPr anchor="ctr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6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© 2026 American Academy of Neurology</a:t>
            </a:r>
          </a:p>
        </p:txBody>
      </p:sp>
    </p:spTree>
    <p:extLst>
      <p:ext uri="{BB962C8B-B14F-4D97-AF65-F5344CB8AC3E}">
        <p14:creationId xmlns:p14="http://schemas.microsoft.com/office/powerpoint/2010/main" val="3501278947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AN Dark Logo">
            <a:extLst>
              <a:ext uri="{FF2B5EF4-FFF2-40B4-BE49-F238E27FC236}">
                <a16:creationId xmlns:a16="http://schemas.microsoft.com/office/drawing/2014/main" id="{C810F389-8582-ED42-339E-0C32872EA3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2775" y="11383963"/>
            <a:ext cx="4098925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">
            <a:extLst>
              <a:ext uri="{FF2B5EF4-FFF2-40B4-BE49-F238E27FC236}">
                <a16:creationId xmlns:a16="http://schemas.microsoft.com/office/drawing/2014/main" id="{33EF77C1-4B6A-E9FD-7624-B3D67C0B01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15988" y="12834938"/>
            <a:ext cx="7351712" cy="719137"/>
          </a:xfrm>
          <a:prstGeom prst="rect">
            <a:avLst/>
          </a:prstGeom>
        </p:spPr>
        <p:txBody>
          <a:bodyPr anchor="ctr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6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© 2026 American Academy of Neurology</a:t>
            </a:r>
          </a:p>
        </p:txBody>
      </p:sp>
    </p:spTree>
    <p:extLst>
      <p:ext uri="{BB962C8B-B14F-4D97-AF65-F5344CB8AC3E}">
        <p14:creationId xmlns:p14="http://schemas.microsoft.com/office/powerpoint/2010/main" val="1674651677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gli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pergraphic">
            <a:extLst>
              <a:ext uri="{FF2B5EF4-FFF2-40B4-BE49-F238E27FC236}">
                <a16:creationId xmlns:a16="http://schemas.microsoft.com/office/drawing/2014/main" id="{97C4796F-01AF-18C7-F163-8ABD5F31A1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" b="8"/>
          <a:stretch>
            <a:fillRect/>
          </a:stretch>
        </p:blipFill>
        <p:spPr bwMode="auto"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AAN Dark Logo">
            <a:extLst>
              <a:ext uri="{FF2B5EF4-FFF2-40B4-BE49-F238E27FC236}">
                <a16:creationId xmlns:a16="http://schemas.microsoft.com/office/drawing/2014/main" id="{C4357074-AE72-3946-363B-71E79239F4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2775" y="11383963"/>
            <a:ext cx="4098925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9132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hidden="1">
            <a:extLst>
              <a:ext uri="{FF2B5EF4-FFF2-40B4-BE49-F238E27FC236}">
                <a16:creationId xmlns:a16="http://schemas.microsoft.com/office/drawing/2014/main" id="{22C1C6A7-0F61-F34C-5875-DD860D2721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24382412" cy="137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Graphic 9" hidden="1">
            <a:extLst>
              <a:ext uri="{FF2B5EF4-FFF2-40B4-BE49-F238E27FC236}">
                <a16:creationId xmlns:a16="http://schemas.microsoft.com/office/drawing/2014/main" id="{B89F0E92-5FAD-91C3-DC4F-6122B03846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2775" y="11383963"/>
            <a:ext cx="4098925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15D4D-3D2D-D598-39B3-9D184F127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980025" y="12814300"/>
            <a:ext cx="5486400" cy="73025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35064BF-F076-4B2E-8F24-5396CBB735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DC0E31-0B2D-13FD-072B-0CBB750A1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88" y="936625"/>
            <a:ext cx="22550437" cy="19558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B05094D8-1A66-7FAE-DF4C-EE9C36DEA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88" y="3200400"/>
            <a:ext cx="22550437" cy="957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</p:sldLayoutIdLst>
  <p:hf sldNum="0" hdr="0" dt="0"/>
  <p:txStyles>
    <p:titleStyle>
      <a:lvl1pPr algn="l" defTabSz="1828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 kern="2400" spc="-100">
          <a:solidFill>
            <a:schemeClr val="tx2"/>
          </a:solidFill>
          <a:latin typeface="+mj-lt"/>
          <a:ea typeface="+mj-ea"/>
          <a:cs typeface="+mj-cs"/>
        </a:defRPr>
      </a:lvl1pPr>
      <a:lvl2pPr algn="l" defTabSz="1828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2"/>
          </a:solidFill>
          <a:latin typeface="PP Mori SemiBold" charset="0"/>
        </a:defRPr>
      </a:lvl2pPr>
      <a:lvl3pPr algn="l" defTabSz="1828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2"/>
          </a:solidFill>
          <a:latin typeface="PP Mori SemiBold" charset="0"/>
        </a:defRPr>
      </a:lvl3pPr>
      <a:lvl4pPr algn="l" defTabSz="1828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2"/>
          </a:solidFill>
          <a:latin typeface="PP Mori SemiBold" charset="0"/>
        </a:defRPr>
      </a:lvl4pPr>
      <a:lvl5pPr algn="l" defTabSz="1828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2"/>
          </a:solidFill>
          <a:latin typeface="PP Mori SemiBold" charset="0"/>
        </a:defRPr>
      </a:lvl5pPr>
      <a:lvl6pPr marL="457200" algn="l" defTabSz="1828800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2"/>
          </a:solidFill>
          <a:latin typeface="PP Mori SemiBold" charset="0"/>
        </a:defRPr>
      </a:lvl6pPr>
      <a:lvl7pPr marL="914400" algn="l" defTabSz="1828800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2"/>
          </a:solidFill>
          <a:latin typeface="PP Mori SemiBold" charset="0"/>
        </a:defRPr>
      </a:lvl7pPr>
      <a:lvl8pPr marL="1371600" algn="l" defTabSz="1828800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2"/>
          </a:solidFill>
          <a:latin typeface="PP Mori SemiBold" charset="0"/>
        </a:defRPr>
      </a:lvl8pPr>
      <a:lvl9pPr marL="1828800" algn="l" defTabSz="1828800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2"/>
          </a:solidFill>
          <a:latin typeface="PP Mori SemiBold" charset="0"/>
        </a:defRPr>
      </a:lvl9pPr>
    </p:titleStyle>
    <p:bodyStyle>
      <a:lvl1pPr algn="l" defTabSz="1828800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Clr>
          <a:srgbClr val="008923"/>
        </a:buClr>
        <a:buSzPct val="110000"/>
        <a:buFont typeface="Arial" panose="020B0604020202020204" pitchFamily="34" charset="0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630238" indent="-287338" algn="l" defTabSz="1828800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Clr>
          <a:srgbClr val="008923"/>
        </a:buClr>
        <a:buSzPct val="110000"/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74725" indent="-228600" algn="l" defTabSz="1828800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Clr>
          <a:srgbClr val="008923"/>
        </a:buClr>
        <a:buSzPct val="110000"/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6363" indent="-236538" algn="l" defTabSz="1828800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Clr>
          <a:srgbClr val="008923"/>
        </a:buClr>
        <a:buSzPct val="110000"/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2290763" indent="-473075" algn="l" defTabSz="1828800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ubtitle 1">
            <a:extLst>
              <a:ext uri="{FF2B5EF4-FFF2-40B4-BE49-F238E27FC236}">
                <a16:creationId xmlns:a16="http://schemas.microsoft.com/office/drawing/2014/main" id="{D65C33E4-E3C2-9DDE-EC97-0EA7EC2789E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15988" y="7759700"/>
            <a:ext cx="22550437" cy="2959100"/>
          </a:xfrm>
        </p:spPr>
        <p:txBody>
          <a:bodyPr/>
          <a:lstStyle/>
          <a:p>
            <a:pPr eaLnBrk="1" hangingPunct="1"/>
            <a:r>
              <a:rPr lang="en-US" altLang="en-US" dirty="0"/>
              <a:t>Kristine C. Mechem PhD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Mark Borsody MD PhD, Grace Montenegro MS, Yibo Li (</a:t>
            </a:r>
            <a:r>
              <a:rPr lang="en-US" altLang="en-US"/>
              <a:t>principal authors) </a:t>
            </a:r>
            <a:endParaRPr lang="en-US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EC6AE9-1943-BDB8-8291-4D13A7B28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88" y="2857500"/>
            <a:ext cx="22550437" cy="483076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Proof of Concept for Prehospital Stroke Predictor Model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BFFAACA1-14B3-2CF9-DB67-84D5835D4DF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PP Mori Regular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PP Mori Regular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PP Mori Regular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P Mori Regular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P Mori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P Mori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P Mori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P Mori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P Mori Regular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/>
              <a:t>© 2026 American Academy of Neurology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6491E-AF91-AE6A-1565-0C98DAA6B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9775" y="1970088"/>
            <a:ext cx="6602413" cy="446087"/>
          </a:xfrm>
          <a:solidFill>
            <a:schemeClr val="accent6"/>
          </a:solidFill>
        </p:spPr>
        <p:txBody>
          <a:bodyPr/>
          <a:lstStyle/>
          <a:p>
            <a:pPr algn="ctr">
              <a:defRPr/>
            </a:pPr>
            <a:r>
              <a:rPr lang="en-US" sz="3200" dirty="0">
                <a:solidFill>
                  <a:schemeClr val="bg1"/>
                </a:solidFill>
              </a:rPr>
              <a:t>Objective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352ADA-ACDD-53E3-E752-D4BF80536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260350"/>
            <a:ext cx="21977350" cy="89217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>
                <a:solidFill>
                  <a:schemeClr val="bg1"/>
                </a:solidFill>
              </a:rPr>
              <a:t>Proof of Concept for a Pre-Hospital Stroke Predictor Model 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Mark K. Borsody, MD/PhD (Queen of Valley Hospital), Grace Montenegro MS-CES (ODY-C Inc), Kristine C. Mechem PhD (ODY-C  Inc),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Yibo Li  PhD (University of Massachusetts)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21EE94F-3ED6-0785-ECFF-F732A460A4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American Academy of Neurology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39037E1-89B9-9BCC-F408-DFA6E6EA30B6}"/>
              </a:ext>
            </a:extLst>
          </p:cNvPr>
          <p:cNvSpPr txBox="1">
            <a:spLocks/>
          </p:cNvSpPr>
          <p:nvPr/>
        </p:nvSpPr>
        <p:spPr bwMode="auto">
          <a:xfrm>
            <a:off x="811213" y="6330693"/>
            <a:ext cx="6602413" cy="4460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0" tIns="0" rIns="0" bIns="0">
            <a:spAutoFit/>
          </a:bodyPr>
          <a:lstStyle>
            <a:lvl1pPr marL="0" indent="0" algn="l" defTabSz="1828800" rtl="0" eaLnBrk="0" fontAlgn="base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4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144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B0B0A18-C1E1-E23F-0B05-654AE826F693}"/>
              </a:ext>
            </a:extLst>
          </p:cNvPr>
          <p:cNvSpPr txBox="1">
            <a:spLocks/>
          </p:cNvSpPr>
          <p:nvPr/>
        </p:nvSpPr>
        <p:spPr bwMode="auto">
          <a:xfrm>
            <a:off x="7985125" y="1970088"/>
            <a:ext cx="9217025" cy="4460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0" tIns="0" rIns="0" bIns="0">
            <a:spAutoFit/>
          </a:bodyPr>
          <a:lstStyle>
            <a:lvl1pPr marL="0" indent="0" algn="l" defTabSz="1828800" rtl="0" eaLnBrk="0" fontAlgn="base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4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144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chemeClr val="bg1"/>
                </a:solidFill>
              </a:rPr>
              <a:t>Design/Methods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B09A560-0182-8E8A-3F60-414693226701}"/>
              </a:ext>
            </a:extLst>
          </p:cNvPr>
          <p:cNvSpPr txBox="1">
            <a:spLocks/>
          </p:cNvSpPr>
          <p:nvPr/>
        </p:nvSpPr>
        <p:spPr bwMode="auto">
          <a:xfrm>
            <a:off x="17519650" y="1970088"/>
            <a:ext cx="6600825" cy="4460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0" tIns="0" rIns="0" bIns="0">
            <a:spAutoFit/>
          </a:bodyPr>
          <a:lstStyle>
            <a:lvl1pPr marL="0" indent="0" algn="l" defTabSz="1828800" rtl="0" eaLnBrk="0" fontAlgn="base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4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144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E79AC11-5928-2B6D-85B0-9F14116CC2D8}"/>
              </a:ext>
            </a:extLst>
          </p:cNvPr>
          <p:cNvSpPr txBox="1">
            <a:spLocks/>
          </p:cNvSpPr>
          <p:nvPr/>
        </p:nvSpPr>
        <p:spPr bwMode="auto">
          <a:xfrm>
            <a:off x="17437141" y="7754080"/>
            <a:ext cx="6602412" cy="44608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0" tIns="0" rIns="0" bIns="0">
            <a:spAutoFit/>
          </a:bodyPr>
          <a:lstStyle>
            <a:lvl1pPr marL="0" indent="0" algn="l" defTabSz="1828800" rtl="0" eaLnBrk="0" fontAlgn="base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4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144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4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2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D1FF354-923F-F864-60EC-D03979A52245}"/>
              </a:ext>
            </a:extLst>
          </p:cNvPr>
          <p:cNvSpPr txBox="1">
            <a:spLocks/>
          </p:cNvSpPr>
          <p:nvPr/>
        </p:nvSpPr>
        <p:spPr bwMode="auto">
          <a:xfrm>
            <a:off x="17519650" y="2627227"/>
            <a:ext cx="6602412" cy="43512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spAutoFit/>
          </a:bodyPr>
          <a:lstStyle>
            <a:lvl1pPr algn="l" defTabSz="1828800" rtl="0" eaLnBrk="0" fontAlgn="base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87338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4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4725" indent="-22860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6363" indent="-236538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63700" indent="-24130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Facial droop and absence of atrial fibrillation are strong predictors of stroke in a hospital environment (original FABS </a:t>
            </a:r>
            <a:r>
              <a:rPr lang="en-US" sz="1600"/>
              <a:t>analysis 94% and 96% sensitivity, respectively).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Other characteristics in FABS were more predictive of stroke </a:t>
            </a:r>
            <a:r>
              <a:rPr lang="en-US" sz="1600"/>
              <a:t>mimics (seizure history and isolated sensory deficit with 97% and 97% specificity, respectively).</a:t>
            </a:r>
            <a:endParaRPr lang="en-US" sz="1600">
              <a:cs typeface="PP Mori Regular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By correcting mislabeled or miscategorized data through a machine learning approach we were able to increase sensitivity to </a:t>
            </a:r>
            <a:r>
              <a:rPr lang="en-US" sz="1600"/>
              <a:t>97% with a small improvement in specificity (63% versus 65%).</a:t>
            </a:r>
            <a:endParaRPr lang="en-US" sz="1600">
              <a:cs typeface="PP Mori Regular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Our approach improved stroke prediction from the common </a:t>
            </a:r>
            <a:r>
              <a:rPr lang="en-US" sz="1600"/>
              <a:t>stroke models developed for a prehospital setting (FAST and BEFAST sensitivity 77% and 68%, specificity 60% and 85%).</a:t>
            </a:r>
            <a:endParaRPr lang="en-US" sz="1600">
              <a:cs typeface="PP Mori Regular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We have developed a proof of concept based on only one NIHSS clinical covariate recommended for prehospital use that has high </a:t>
            </a:r>
            <a:r>
              <a:rPr lang="en-US" sz="1600"/>
              <a:t>predictive value.</a:t>
            </a:r>
            <a:endParaRPr lang="en-US" sz="1600">
              <a:cs typeface="PP Mori Regular"/>
            </a:endParaRPr>
          </a:p>
        </p:txBody>
      </p:sp>
      <p:graphicFrame>
        <p:nvGraphicFramePr>
          <p:cNvPr id="28" name="Content Placeholder 27">
            <a:extLst>
              <a:ext uri="{FF2B5EF4-FFF2-40B4-BE49-F238E27FC236}">
                <a16:creationId xmlns:a16="http://schemas.microsoft.com/office/drawing/2014/main" id="{578B4BD3-F9A6-1FEE-C94D-E57AFD6C15D9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10685374"/>
              </p:ext>
            </p:extLst>
          </p:nvPr>
        </p:nvGraphicFramePr>
        <p:xfrm>
          <a:off x="10236850" y="5817893"/>
          <a:ext cx="3729039" cy="187325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2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649">
                <a:tc>
                  <a:txBody>
                    <a:bodyPr/>
                    <a:lstStyle/>
                    <a:p>
                      <a:r>
                        <a:rPr lang="en-US" sz="1200" dirty="0"/>
                        <a:t>Attribute</a:t>
                      </a:r>
                    </a:p>
                  </a:txBody>
                  <a:tcPr marL="91422" marR="91422" marT="45722" marB="45722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Stroke</a:t>
                      </a:r>
                    </a:p>
                  </a:txBody>
                  <a:tcPr marL="91422" marR="91422" marT="45722" marB="45722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Non-Stroke</a:t>
                      </a:r>
                    </a:p>
                  </a:txBody>
                  <a:tcPr marL="91422" marR="91422" marT="45722" marB="4572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35">
                <a:tc>
                  <a:txBody>
                    <a:bodyPr/>
                    <a:lstStyle/>
                    <a:p>
                      <a:pPr marL="0" algn="l" defTabSz="1828800" rtl="0" eaLnBrk="1" latinLnBrk="0" hangingPunct="1"/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 (median)</a:t>
                      </a:r>
                    </a:p>
                  </a:txBody>
                  <a:tcPr marL="91422" marR="91422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68 </a:t>
                      </a:r>
                    </a:p>
                  </a:txBody>
                  <a:tcPr marL="91422" marR="91422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51 </a:t>
                      </a:r>
                    </a:p>
                  </a:txBody>
                  <a:tcPr marL="91422" marR="91422" marT="45722" marB="4572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35">
                <a:tc>
                  <a:txBody>
                    <a:bodyPr/>
                    <a:lstStyle/>
                    <a:p>
                      <a:pPr marL="0" algn="l" defTabSz="1828800" rtl="0" eaLnBrk="1" latinLnBrk="0" hangingPunct="1"/>
                      <a:r>
                        <a:rPr lang="en-US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Race(% Black)</a:t>
                      </a:r>
                    </a:p>
                  </a:txBody>
                  <a:tcPr marL="91422" marR="91422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39.8%</a:t>
                      </a:r>
                    </a:p>
                  </a:txBody>
                  <a:tcPr marL="91422" marR="91422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45.7%</a:t>
                      </a:r>
                    </a:p>
                  </a:txBody>
                  <a:tcPr marL="91422" marR="91422" marT="45722" marB="4572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35">
                <a:tc>
                  <a:txBody>
                    <a:bodyPr/>
                    <a:lstStyle/>
                    <a:p>
                      <a:r>
                        <a:rPr lang="en-US" sz="1050" dirty="0"/>
                        <a:t>Sex (% female)</a:t>
                      </a:r>
                    </a:p>
                  </a:txBody>
                  <a:tcPr marL="91422" marR="91422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46.9%</a:t>
                      </a:r>
                    </a:p>
                  </a:txBody>
                  <a:tcPr marL="91422" marR="91422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37.0%</a:t>
                      </a:r>
                    </a:p>
                  </a:txBody>
                  <a:tcPr marL="91422" marR="91422" marT="45722" marB="4572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98">
                <a:tc>
                  <a:txBody>
                    <a:bodyPr/>
                    <a:lstStyle/>
                    <a:p>
                      <a:r>
                        <a:rPr lang="en-US" sz="1050" dirty="0"/>
                        <a:t>Facial Droop</a:t>
                      </a:r>
                    </a:p>
                  </a:txBody>
                  <a:tcPr marL="91422" marR="91422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72.6%</a:t>
                      </a:r>
                    </a:p>
                  </a:txBody>
                  <a:tcPr marL="91422" marR="91422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10.9%</a:t>
                      </a:r>
                    </a:p>
                  </a:txBody>
                  <a:tcPr marL="91422" marR="91422" marT="45722" marB="4572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98">
                <a:tc>
                  <a:txBody>
                    <a:bodyPr/>
                    <a:lstStyle/>
                    <a:p>
                      <a:r>
                        <a:rPr lang="en-US" sz="1000" dirty="0"/>
                        <a:t>NIHSS (median)</a:t>
                      </a:r>
                    </a:p>
                  </a:txBody>
                  <a:tcPr marL="91422" marR="91422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9</a:t>
                      </a:r>
                    </a:p>
                  </a:txBody>
                  <a:tcPr marL="91422" marR="91422"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4</a:t>
                      </a:r>
                    </a:p>
                  </a:txBody>
                  <a:tcPr marL="91422" marR="91422" marT="45722" marB="4572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400" name="TextBox 22">
            <a:extLst>
              <a:ext uri="{FF2B5EF4-FFF2-40B4-BE49-F238E27FC236}">
                <a16:creationId xmlns:a16="http://schemas.microsoft.com/office/drawing/2014/main" id="{76354FA2-B78D-0F4C-C73C-CBA1AA2BB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4572" y="13011151"/>
            <a:ext cx="446147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PP Mori Regular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PP Mori Regular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PP Mori Regular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PP Mori Regular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PP Mori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P Mori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P Mori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P Mori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P Mori Regular" charset="0"/>
              </a:defRPr>
            </a:lvl9pPr>
          </a:lstStyle>
          <a:p>
            <a:r>
              <a:rPr lang="en-US" altLang="en-US" sz="1200" dirty="0"/>
              <a:t>Sources: Stroke 47(9) 2016,  Frontiers in Neurology 28, 2022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AEE9FF5-3526-D582-A6B7-5AD6D9F401BB}"/>
              </a:ext>
            </a:extLst>
          </p:cNvPr>
          <p:cNvSpPr txBox="1">
            <a:spLocks/>
          </p:cNvSpPr>
          <p:nvPr/>
        </p:nvSpPr>
        <p:spPr bwMode="auto">
          <a:xfrm>
            <a:off x="17437141" y="8329591"/>
            <a:ext cx="6602413" cy="37422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>
            <a:spAutoFit/>
          </a:bodyPr>
          <a:lstStyle>
            <a:lvl1pPr algn="l" defTabSz="1828800" rtl="0" eaLnBrk="0" fontAlgn="base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87338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4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4725" indent="-22860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6363" indent="-236538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63700" indent="-24130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/>
              <a:t>Our analysis demonstrates a clinical decision </a:t>
            </a:r>
            <a:r>
              <a:rPr lang="en-US" sz="1600" dirty="0"/>
              <a:t>support tool that is </a:t>
            </a:r>
            <a:r>
              <a:rPr lang="en-US" sz="1600"/>
              <a:t>clinically interpretable and scalable in a prehospital setting.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/>
              <a:t>Our analysis confirms the usefulness of one of the clinical covariates (facial droop)  recommended for prehospital setting.</a:t>
            </a:r>
            <a:endParaRPr lang="en-US" sz="1600">
              <a:cs typeface="PP Mori Regular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We have currently developed a prototype for an easy to use </a:t>
            </a:r>
            <a:r>
              <a:rPr lang="en-US" sz="1600"/>
              <a:t>collection device that fits in the ambulance workflow.</a:t>
            </a:r>
            <a:endParaRPr lang="en-US" sz="1600">
              <a:cs typeface="PP Mori Regular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/>
              <a:t>Our next steps are to test the prototype in a real world setting, to complete AI models for other clinical covariates (slurred speech, eye tracking, arm/leg strength, and involuntary movements), and to train a ML model on additional clinical covariates that further increases the  predictive ability of a stroke predictor model.</a:t>
            </a:r>
            <a:endParaRPr lang="en-US" sz="1600">
              <a:cs typeface="PP Mori Regular"/>
            </a:endParaRPr>
          </a:p>
          <a:p>
            <a:pPr>
              <a:defRPr/>
            </a:pPr>
            <a:endParaRPr lang="en-US" sz="2000" dirty="0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D8E790F0-C129-7933-5B89-0FE814C5F146}"/>
              </a:ext>
            </a:extLst>
          </p:cNvPr>
          <p:cNvSpPr txBox="1">
            <a:spLocks/>
          </p:cNvSpPr>
          <p:nvPr/>
        </p:nvSpPr>
        <p:spPr bwMode="auto">
          <a:xfrm>
            <a:off x="739775" y="2149950"/>
            <a:ext cx="6953250" cy="426200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 algn="l" defTabSz="1828800" rtl="0" eaLnBrk="0" fontAlgn="base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87338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4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4725" indent="-22860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6363" indent="-236538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63700" indent="-24130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800" dirty="0"/>
          </a:p>
          <a:p>
            <a:pPr>
              <a:defRPr/>
            </a:pPr>
            <a:r>
              <a:rPr lang="en-US" sz="1600" dirty="0"/>
              <a:t>To develop and evaluate an artificial intelligence-based clinical decision support system that improves the accuracy and clinical utility of stroke </a:t>
            </a:r>
            <a:r>
              <a:rPr lang="en-US" sz="1600"/>
              <a:t>diagnosis in prehospital settings, thereby: </a:t>
            </a:r>
            <a:endParaRPr lang="en-US" sz="1600" dirty="0">
              <a:cs typeface="PP Mori Regular"/>
            </a:endParaRPr>
          </a:p>
          <a:p>
            <a:pPr marL="342900" indent="-342900">
              <a:buChar char="•"/>
              <a:defRPr/>
            </a:pPr>
            <a:r>
              <a:rPr lang="en-US" sz="1600" dirty="0"/>
              <a:t>Accelerating patient routing to neuroimaging </a:t>
            </a:r>
            <a:endParaRPr lang="en-US" dirty="0">
              <a:cs typeface="PP Mori Regular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/>
              <a:t>Decreasing time to diagnosis</a:t>
            </a:r>
            <a:endParaRPr lang="en-US" sz="1600">
              <a:cs typeface="PP Mori Regular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Optimizing patient treatment</a:t>
            </a:r>
            <a:endParaRPr lang="en-US" sz="1600" dirty="0">
              <a:cs typeface="PP Mori Regular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Increasing patient treatment with </a:t>
            </a:r>
            <a:r>
              <a:rPr lang="en-US" sz="1400" dirty="0"/>
              <a:t>thrombolytics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Routing patients with suspected large vessel occlusion to Comprehensive Stroke Centers</a:t>
            </a:r>
            <a:endParaRPr lang="en-US" sz="1600" dirty="0">
              <a:cs typeface="PP Mori Regular"/>
            </a:endParaRPr>
          </a:p>
          <a:p>
            <a:pPr>
              <a:defRPr/>
            </a:pPr>
            <a:r>
              <a:rPr lang="en-US" sz="1600" dirty="0"/>
              <a:t> 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C4D97866-1381-44DD-8607-7BC3BA304809}"/>
              </a:ext>
            </a:extLst>
          </p:cNvPr>
          <p:cNvSpPr txBox="1">
            <a:spLocks/>
          </p:cNvSpPr>
          <p:nvPr/>
        </p:nvSpPr>
        <p:spPr bwMode="auto">
          <a:xfrm>
            <a:off x="753340" y="6982931"/>
            <a:ext cx="6961769" cy="70225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 algn="l" defTabSz="1828800" rtl="0" eaLnBrk="0" fontAlgn="base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87338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4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4725" indent="-22860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6363" indent="-236538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63700" indent="-24130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Stroke remains one of the leading causes of mortality and disability worldwide with a US incidence rate of ~800,000 and ~150,000 deaths yearly.</a:t>
            </a:r>
            <a:endParaRPr lang="en-US" sz="1600" dirty="0">
              <a:cs typeface="PP Mori Regular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Less than one out of five patients eligible for thrombolytics are treated due to expiry of the treatment window, resulting in poor outcomes for many stroke patients.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Timely and accurate differentiation between stroke and non-stroke patients in pre-hospital environments is critical to improving outcomes and reducing the time to treatment.</a:t>
            </a:r>
            <a:endParaRPr lang="en-US" sz="1600" dirty="0">
              <a:cs typeface="PP Mori Regular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Stroke screening tests perform poorly in ambulance settings due to poor specificity (many false positives) and/or poor sensitivity (many missed strokes).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/>
              <a:t>Clinical scales and predictive models often lack sufficient </a:t>
            </a:r>
            <a:r>
              <a:rPr lang="en-US" sz="1600" dirty="0"/>
              <a:t>accuracy and ease of use under real-world conditions, resulting in patients sometimes being routed to a hospital that cannot meet their clinical needs.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/>
              <a:t>An AI trained model run in an ambulance setting could also avoid </a:t>
            </a:r>
            <a:r>
              <a:rPr lang="en-US" sz="1600" dirty="0"/>
              <a:t>unnecessary transfers to non-specialty hospitals.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1600" dirty="0"/>
          </a:p>
          <a:p>
            <a:pPr>
              <a:defRPr/>
            </a:pPr>
            <a:endParaRPr lang="en-US" sz="1800" dirty="0"/>
          </a:p>
          <a:p>
            <a:pPr>
              <a:defRPr/>
            </a:pPr>
            <a:endParaRPr lang="en-US" sz="1800" dirty="0"/>
          </a:p>
        </p:txBody>
      </p:sp>
      <p:graphicFrame>
        <p:nvGraphicFramePr>
          <p:cNvPr id="32" name="Content Placeholder 27">
            <a:extLst>
              <a:ext uri="{FF2B5EF4-FFF2-40B4-BE49-F238E27FC236}">
                <a16:creationId xmlns:a16="http://schemas.microsoft.com/office/drawing/2014/main" id="{29CFC19D-9A8F-F72A-E472-1DB616A47F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9053075"/>
              </p:ext>
            </p:extLst>
          </p:nvPr>
        </p:nvGraphicFramePr>
        <p:xfrm>
          <a:off x="8183563" y="8170780"/>
          <a:ext cx="2797176" cy="191930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2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535">
                <a:tc>
                  <a:txBody>
                    <a:bodyPr/>
                    <a:lstStyle/>
                    <a:p>
                      <a:r>
                        <a:rPr lang="en-US" sz="1200" dirty="0"/>
                        <a:t>Clinical Dx Call</a:t>
                      </a:r>
                    </a:p>
                  </a:txBody>
                  <a:tcPr marL="91435" marR="91435" marT="45672" marB="45672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Actual No Stroke</a:t>
                      </a:r>
                    </a:p>
                  </a:txBody>
                  <a:tcPr marL="91435" marR="91435" marT="45672" marB="45672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Actual Stroke</a:t>
                      </a:r>
                    </a:p>
                  </a:txBody>
                  <a:tcPr marL="91435" marR="91435" marT="45672" marB="4567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398">
                <a:tc>
                  <a:txBody>
                    <a:bodyPr/>
                    <a:lstStyle/>
                    <a:p>
                      <a:r>
                        <a:rPr lang="en-US" sz="1000" dirty="0"/>
                        <a:t>Predicted Non-Stroke</a:t>
                      </a:r>
                    </a:p>
                  </a:txBody>
                  <a:tcPr marL="91435" marR="91435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 30</a:t>
                      </a:r>
                    </a:p>
                  </a:txBody>
                  <a:tcPr marL="91435" marR="91435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 8</a:t>
                      </a:r>
                    </a:p>
                  </a:txBody>
                  <a:tcPr marL="91435" marR="91435" marT="45672" marB="4567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36">
                <a:tc>
                  <a:txBody>
                    <a:bodyPr/>
                    <a:lstStyle/>
                    <a:p>
                      <a:r>
                        <a:rPr lang="en-US" sz="1000" dirty="0"/>
                        <a:t>Predicted Stroke</a:t>
                      </a:r>
                    </a:p>
                  </a:txBody>
                  <a:tcPr marL="91435" marR="91435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16</a:t>
                      </a:r>
                    </a:p>
                  </a:txBody>
                  <a:tcPr marL="91435" marR="91435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105</a:t>
                      </a:r>
                    </a:p>
                  </a:txBody>
                  <a:tcPr marL="91435" marR="91435" marT="45672" marB="4567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19">
                <a:tc>
                  <a:txBody>
                    <a:bodyPr/>
                    <a:lstStyle/>
                    <a:p>
                      <a:r>
                        <a:rPr lang="en-US" sz="1100" dirty="0"/>
                        <a:t>Total</a:t>
                      </a:r>
                    </a:p>
                  </a:txBody>
                  <a:tcPr marL="91435" marR="91435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46</a:t>
                      </a:r>
                    </a:p>
                  </a:txBody>
                  <a:tcPr marL="91435" marR="91435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113</a:t>
                      </a:r>
                    </a:p>
                  </a:txBody>
                  <a:tcPr marL="91435" marR="91435" marT="45672" marB="4567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EC8889B1-D7E3-D83B-E395-4DD49435C495}"/>
              </a:ext>
            </a:extLst>
          </p:cNvPr>
          <p:cNvSpPr txBox="1">
            <a:spLocks/>
          </p:cNvSpPr>
          <p:nvPr/>
        </p:nvSpPr>
        <p:spPr bwMode="auto">
          <a:xfrm>
            <a:off x="7985125" y="2772567"/>
            <a:ext cx="9217025" cy="252511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lvl1pPr algn="l" defTabSz="1828800" rtl="0" eaLnBrk="0" fontAlgn="base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008923"/>
              </a:buClr>
              <a:buSzPct val="110000"/>
              <a:buFont typeface="Arial" panose="020B0604020202020204" pitchFamily="34" charset="0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87338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4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4725" indent="-22860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6363" indent="-236538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63700" indent="-241300" algn="l" defTabSz="182880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ct val="110000"/>
              <a:buFont typeface="Arial" panose="020B0604020202020204" pitchFamily="34" charset="0"/>
              <a:buChar char="•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Samples were pulled from the Geissinger FABS data base of 780 patients which contains stroke/non-stroke patient features such as sex, race, age, smoking, blood pressure, blood sugar, history of atrial fibrillation  and seizures, and facial droop.</a:t>
            </a:r>
            <a:endParaRPr lang="en-US" sz="1600" dirty="0">
              <a:cs typeface="PP Mori Regular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The FABs database is comprised of consecutive patients presenting with acute, stroke-like symptoms within 4.5 hours of onset in two tertiary care centers over a three-year period (2012-2014).</a:t>
            </a:r>
            <a:endParaRPr lang="en-US" sz="1600" dirty="0">
              <a:cs typeface="PP Mori Regular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We created two data sets: Training set of n=633 (</a:t>
            </a:r>
            <a:r>
              <a:rPr lang="en-US" sz="1600" dirty="0">
                <a:highlight>
                  <a:srgbClr val="FFFF00"/>
                </a:highlight>
              </a:rPr>
              <a:t>XXX stroke and XX non-stroke</a:t>
            </a:r>
            <a:r>
              <a:rPr lang="en-US" sz="1600" dirty="0"/>
              <a:t>) and a test set of n=159 patients (113 stroke and 46 non-stroke)</a:t>
            </a:r>
            <a:endParaRPr lang="en-US" sz="1600" dirty="0">
              <a:cs typeface="PP Mori Regular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Models were developed using neural networks, random forest, and </a:t>
            </a:r>
            <a:r>
              <a:rPr lang="en-US" sz="1600" dirty="0" err="1"/>
              <a:t>XGb</a:t>
            </a:r>
            <a:endParaRPr lang="en-US" sz="1600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Cohort routed model developed algorithms to assess accuracy of data</a:t>
            </a:r>
            <a:endParaRPr lang="en-US" sz="2800" dirty="0"/>
          </a:p>
        </p:txBody>
      </p:sp>
      <p:pic>
        <p:nvPicPr>
          <p:cNvPr id="15427" name="Picture 7">
            <a:extLst>
              <a:ext uri="{FF2B5EF4-FFF2-40B4-BE49-F238E27FC236}">
                <a16:creationId xmlns:a16="http://schemas.microsoft.com/office/drawing/2014/main" id="{6392FD21-7395-B475-CEE4-8E1EBF79F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6328" y="10084692"/>
            <a:ext cx="4886325" cy="328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D3CC78-8832-AB76-44D6-1C4E5BE4531F}"/>
              </a:ext>
            </a:extLst>
          </p:cNvPr>
          <p:cNvSpPr txBox="1"/>
          <p:nvPr/>
        </p:nvSpPr>
        <p:spPr>
          <a:xfrm>
            <a:off x="8315695" y="7782756"/>
            <a:ext cx="2614613" cy="27622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accent6"/>
                </a:solidFill>
              </a:rPr>
              <a:t>Predictive Accuracy of Baseline Model</a:t>
            </a:r>
          </a:p>
        </p:txBody>
      </p:sp>
      <p:graphicFrame>
        <p:nvGraphicFramePr>
          <p:cNvPr id="15" name="Content Placeholder 27">
            <a:extLst>
              <a:ext uri="{FF2B5EF4-FFF2-40B4-BE49-F238E27FC236}">
                <a16:creationId xmlns:a16="http://schemas.microsoft.com/office/drawing/2014/main" id="{0B3EE002-E34D-B62F-A780-26E16C103F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62332"/>
              </p:ext>
            </p:extLst>
          </p:nvPr>
        </p:nvGraphicFramePr>
        <p:xfrm>
          <a:off x="12906853" y="8221580"/>
          <a:ext cx="2795586" cy="19192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1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534">
                <a:tc>
                  <a:txBody>
                    <a:bodyPr/>
                    <a:lstStyle/>
                    <a:p>
                      <a:r>
                        <a:rPr lang="en-US" sz="1200" dirty="0"/>
                        <a:t>Clinical Dx Call</a:t>
                      </a:r>
                    </a:p>
                  </a:txBody>
                  <a:tcPr marL="91383" marR="91383" marT="45672" marB="45672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Actual No Stroke</a:t>
                      </a:r>
                    </a:p>
                  </a:txBody>
                  <a:tcPr marL="91383" marR="91383" marT="45672" marB="45672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Actual Stroke</a:t>
                      </a:r>
                    </a:p>
                  </a:txBody>
                  <a:tcPr marL="91383" marR="91383" marT="45672" marB="4567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397">
                <a:tc>
                  <a:txBody>
                    <a:bodyPr/>
                    <a:lstStyle/>
                    <a:p>
                      <a:r>
                        <a:rPr lang="en-US" sz="1000" dirty="0"/>
                        <a:t>Predicted Non-Stroke</a:t>
                      </a:r>
                    </a:p>
                  </a:txBody>
                  <a:tcPr marL="91383" marR="91383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 29</a:t>
                      </a:r>
                    </a:p>
                  </a:txBody>
                  <a:tcPr marL="91383" marR="91383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 4</a:t>
                      </a:r>
                    </a:p>
                  </a:txBody>
                  <a:tcPr marL="91383" marR="91383" marT="45672" marB="4567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36">
                <a:tc>
                  <a:txBody>
                    <a:bodyPr/>
                    <a:lstStyle/>
                    <a:p>
                      <a:r>
                        <a:rPr lang="en-US" sz="1000" dirty="0"/>
                        <a:t>Predicted Stroke</a:t>
                      </a:r>
                    </a:p>
                  </a:txBody>
                  <a:tcPr marL="91383" marR="91383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17  </a:t>
                      </a:r>
                    </a:p>
                  </a:txBody>
                  <a:tcPr marL="91383" marR="91383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109</a:t>
                      </a:r>
                    </a:p>
                  </a:txBody>
                  <a:tcPr marL="91383" marR="91383" marT="45672" marB="4567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19">
                <a:tc>
                  <a:txBody>
                    <a:bodyPr/>
                    <a:lstStyle/>
                    <a:p>
                      <a:r>
                        <a:rPr lang="en-US" sz="1100" dirty="0"/>
                        <a:t>Total</a:t>
                      </a:r>
                    </a:p>
                  </a:txBody>
                  <a:tcPr marL="91383" marR="91383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46</a:t>
                      </a:r>
                    </a:p>
                  </a:txBody>
                  <a:tcPr marL="91383" marR="91383" marT="45672" marB="456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113</a:t>
                      </a:r>
                    </a:p>
                  </a:txBody>
                  <a:tcPr marL="91383" marR="91383" marT="45672" marB="4567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F57976D-09EB-85C7-3CC0-2234CAAD5247}"/>
              </a:ext>
            </a:extLst>
          </p:cNvPr>
          <p:cNvSpPr txBox="1"/>
          <p:nvPr/>
        </p:nvSpPr>
        <p:spPr>
          <a:xfrm>
            <a:off x="12905035" y="7833556"/>
            <a:ext cx="279741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accent6"/>
                </a:solidFill>
              </a:rPr>
              <a:t>Predictive Accuracy of Cohort Routed Model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61DDCA-88B7-4486-C50A-4461EE53370E}"/>
              </a:ext>
            </a:extLst>
          </p:cNvPr>
          <p:cNvSpPr txBox="1"/>
          <p:nvPr/>
        </p:nvSpPr>
        <p:spPr>
          <a:xfrm>
            <a:off x="10951566" y="8681989"/>
            <a:ext cx="1126120" cy="57708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1050" b="1" dirty="0">
                <a:latin typeface="PP Mori Regular"/>
                <a:cs typeface="PP Mori Regular"/>
              </a:rPr>
              <a:t>Sensitivity = </a:t>
            </a:r>
            <a:r>
              <a:rPr lang="en-US" sz="1050" b="1">
                <a:latin typeface="PP Mori Regular"/>
                <a:cs typeface="PP Mori Regular"/>
              </a:rPr>
              <a:t>0.93</a:t>
            </a:r>
            <a:endParaRPr lang="en-US" sz="1050" b="1" dirty="0">
              <a:latin typeface="PP Mori Regular"/>
              <a:cs typeface="PP Mori Regular"/>
            </a:endParaRPr>
          </a:p>
          <a:p>
            <a:pPr>
              <a:defRPr/>
            </a:pPr>
            <a:r>
              <a:rPr lang="en-US" sz="1050" b="1" dirty="0">
                <a:latin typeface="PP Mori Regular"/>
                <a:cs typeface="PP Mori Regular"/>
              </a:rPr>
              <a:t>Specificity = </a:t>
            </a:r>
            <a:r>
              <a:rPr lang="en-US" sz="1050" b="1">
                <a:latin typeface="PP Mori Regular"/>
                <a:cs typeface="PP Mori Regular"/>
              </a:rPr>
              <a:t>0.65</a:t>
            </a:r>
          </a:p>
          <a:p>
            <a:pPr>
              <a:defRPr/>
            </a:pPr>
            <a:r>
              <a:rPr lang="en-US" sz="1050" b="1">
                <a:latin typeface="PP Mori Regular"/>
                <a:cs typeface="PP Mori Regular"/>
              </a:rPr>
              <a:t>Accuracy= 0.85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B2BFDD-B518-5F9E-5779-8065EC884952}"/>
              </a:ext>
            </a:extLst>
          </p:cNvPr>
          <p:cNvSpPr txBox="1"/>
          <p:nvPr/>
        </p:nvSpPr>
        <p:spPr>
          <a:xfrm>
            <a:off x="15684355" y="8675400"/>
            <a:ext cx="1201539" cy="57708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1050" b="1">
                <a:latin typeface="PP Mori Regular"/>
                <a:cs typeface="PP Mori Regular"/>
              </a:rPr>
              <a:t>Sensitivity = 0.97</a:t>
            </a:r>
            <a:endParaRPr lang="en-US"/>
          </a:p>
          <a:p>
            <a:pPr>
              <a:defRPr/>
            </a:pPr>
            <a:r>
              <a:rPr lang="en-US" sz="1050" b="1">
                <a:latin typeface="PP Mori Regular"/>
                <a:cs typeface="PP Mori Regular"/>
              </a:rPr>
              <a:t>Specificity = 0.63</a:t>
            </a:r>
          </a:p>
          <a:p>
            <a:pPr>
              <a:defRPr/>
            </a:pPr>
            <a:r>
              <a:rPr lang="en-US" sz="1050" b="1">
                <a:latin typeface="PP Mori Regular"/>
                <a:cs typeface="PP Mori Regular"/>
              </a:rPr>
              <a:t>Accuracy= 0.87</a:t>
            </a:r>
            <a:endParaRPr lang="en-US" sz="1050" b="1">
              <a:cs typeface="PP Mori Regula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4D887-FEE5-B179-640A-6ECD60D4B6F0}"/>
              </a:ext>
            </a:extLst>
          </p:cNvPr>
          <p:cNvSpPr txBox="1"/>
          <p:nvPr/>
        </p:nvSpPr>
        <p:spPr>
          <a:xfrm>
            <a:off x="10930307" y="5387509"/>
            <a:ext cx="2387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accent6"/>
                </a:solidFill>
              </a:rPr>
              <a:t>Demographics and Characteristics of Test 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651F9-63D4-5786-C575-CBD4C9EDEB57}"/>
              </a:ext>
            </a:extLst>
          </p:cNvPr>
          <p:cNvSpPr txBox="1"/>
          <p:nvPr/>
        </p:nvSpPr>
        <p:spPr>
          <a:xfrm>
            <a:off x="12971599" y="11013420"/>
            <a:ext cx="4470838" cy="93871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1100" b="1" dirty="0">
                <a:latin typeface="PP Mori Regular"/>
                <a:cs typeface="PP Mori Regular"/>
              </a:rPr>
              <a:t>FAST (meta analysis)    BEFAST (meta analysis)     Our Model	</a:t>
            </a:r>
          </a:p>
          <a:p>
            <a:pPr>
              <a:defRPr/>
            </a:pPr>
            <a:endParaRPr lang="en-US" sz="1100" b="1" dirty="0">
              <a:cs typeface="PP Mori Regular"/>
            </a:endParaRPr>
          </a:p>
          <a:p>
            <a:pPr>
              <a:defRPr/>
            </a:pPr>
            <a:r>
              <a:rPr lang="en-US" sz="1100" b="1">
                <a:latin typeface="PP Mori Regular"/>
                <a:cs typeface="PP Mori Regular"/>
              </a:rPr>
              <a:t>Sensitivity = 0.77          Sensitivity = 0.68                   Sensitivity = 0.97</a:t>
            </a:r>
          </a:p>
          <a:p>
            <a:pPr>
              <a:defRPr/>
            </a:pPr>
            <a:r>
              <a:rPr lang="en-US" sz="1100" b="1">
                <a:latin typeface="PP Mori Regular"/>
                <a:cs typeface="PP Mori Regular"/>
              </a:rPr>
              <a:t>Specificity = 0.60           Specificity =0.85                    Specificity = 0.63</a:t>
            </a:r>
          </a:p>
          <a:p>
            <a:pPr>
              <a:defRPr/>
            </a:pPr>
            <a:r>
              <a:rPr lang="en-US" sz="1100" b="1" dirty="0">
                <a:latin typeface="PP Mori Regular"/>
                <a:cs typeface="PP Mori Regular"/>
              </a:rPr>
              <a:t>Accuracy = 0.76              Accuracy = 0.86                      Accuracy = 0.89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9A80C1-4E0D-2D76-5A61-3E101CA77E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12834938"/>
            <a:ext cx="7351713" cy="7191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© 2026 American Academy of Neurology</a:t>
            </a:r>
          </a:p>
        </p:txBody>
      </p:sp>
    </p:spTree>
    <p:extLst>
      <p:ext uri="{BB962C8B-B14F-4D97-AF65-F5344CB8AC3E}">
        <p14:creationId xmlns:p14="http://schemas.microsoft.com/office/powerpoint/2010/main" val="55697287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AAN Theme WHITE">
  <a:themeElements>
    <a:clrScheme name="Custom 4">
      <a:dk1>
        <a:srgbClr val="000000"/>
      </a:dk1>
      <a:lt1>
        <a:srgbClr val="FFFFFF"/>
      </a:lt1>
      <a:dk2>
        <a:srgbClr val="023002"/>
      </a:dk2>
      <a:lt2>
        <a:srgbClr val="D6FCF7"/>
      </a:lt2>
      <a:accent1>
        <a:srgbClr val="47A693"/>
      </a:accent1>
      <a:accent2>
        <a:srgbClr val="008923"/>
      </a:accent2>
      <a:accent3>
        <a:srgbClr val="008923"/>
      </a:accent3>
      <a:accent4>
        <a:srgbClr val="08A741"/>
      </a:accent4>
      <a:accent5>
        <a:srgbClr val="008923"/>
      </a:accent5>
      <a:accent6>
        <a:srgbClr val="023002"/>
      </a:accent6>
      <a:hlink>
        <a:srgbClr val="008923"/>
      </a:hlink>
      <a:folHlink>
        <a:srgbClr val="B24FDE"/>
      </a:folHlink>
    </a:clrScheme>
    <a:fontScheme name="Test">
      <a:majorFont>
        <a:latin typeface="PP Mori SemiBold"/>
        <a:ea typeface=""/>
        <a:cs typeface=""/>
      </a:majorFont>
      <a:minorFont>
        <a:latin typeface="PP Mori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5_AANPPTTemplate_v06" id="{7BCFDC65-8BA1-1B4E-A17C-2E7050775C78}" vid="{2967442C-F1D5-644B-9A88-A493F48ED1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4">
    <a:dk1>
      <a:srgbClr val="000000"/>
    </a:dk1>
    <a:lt1>
      <a:srgbClr val="FFFFFF"/>
    </a:lt1>
    <a:dk2>
      <a:srgbClr val="023002"/>
    </a:dk2>
    <a:lt2>
      <a:srgbClr val="D6FCF7"/>
    </a:lt2>
    <a:accent1>
      <a:srgbClr val="47A693"/>
    </a:accent1>
    <a:accent2>
      <a:srgbClr val="008923"/>
    </a:accent2>
    <a:accent3>
      <a:srgbClr val="008923"/>
    </a:accent3>
    <a:accent4>
      <a:srgbClr val="08A741"/>
    </a:accent4>
    <a:accent5>
      <a:srgbClr val="008923"/>
    </a:accent5>
    <a:accent6>
      <a:srgbClr val="023002"/>
    </a:accent6>
    <a:hlink>
      <a:srgbClr val="008923"/>
    </a:hlink>
    <a:folHlink>
      <a:srgbClr val="B24FDE"/>
    </a:folHlink>
  </a:clrScheme>
</a:themeOverride>
</file>

<file path=ppt/theme/themeOverride2.xml><?xml version="1.0" encoding="utf-8"?>
<a:themeOverride xmlns:a="http://schemas.openxmlformats.org/drawingml/2006/main">
  <a:clrScheme name="Custom 4">
    <a:dk1>
      <a:srgbClr val="000000"/>
    </a:dk1>
    <a:lt1>
      <a:srgbClr val="FFFFFF"/>
    </a:lt1>
    <a:dk2>
      <a:srgbClr val="023002"/>
    </a:dk2>
    <a:lt2>
      <a:srgbClr val="D6FCF7"/>
    </a:lt2>
    <a:accent1>
      <a:srgbClr val="47A693"/>
    </a:accent1>
    <a:accent2>
      <a:srgbClr val="008923"/>
    </a:accent2>
    <a:accent3>
      <a:srgbClr val="008923"/>
    </a:accent3>
    <a:accent4>
      <a:srgbClr val="08A741"/>
    </a:accent4>
    <a:accent5>
      <a:srgbClr val="008923"/>
    </a:accent5>
    <a:accent6>
      <a:srgbClr val="023002"/>
    </a:accent6>
    <a:hlink>
      <a:srgbClr val="008923"/>
    </a:hlink>
    <a:folHlink>
      <a:srgbClr val="B24FD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4518</TotalTime>
  <Words>869</Words>
  <Application>Microsoft Office PowerPoint</Application>
  <PresentationFormat>Custom</PresentationFormat>
  <Paragraphs>100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AAN Theme WHITE</vt:lpstr>
      <vt:lpstr>Proof of Concept for Prehospital Stroke Predictor Model</vt:lpstr>
      <vt:lpstr>Proof of Concept for a Pre-Hospital Stroke Predictor Model  Mark K. Borsody, MD/PhD (Queen of Valley Hospital), Grace Montenegro MS-CES (ODY-C Inc), Kristine C. Mechem PhD (ODY-C  Inc), Yibo Li  PhD (University of Massachusetts) 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Andrew Imholte</dc:creator>
  <cp:keywords/>
  <dc:description/>
  <cp:lastModifiedBy>Kristine Mechem</cp:lastModifiedBy>
  <cp:revision>165</cp:revision>
  <cp:lastPrinted>2026-03-07T17:51:26Z</cp:lastPrinted>
  <dcterms:created xsi:type="dcterms:W3CDTF">2024-12-02T18:46:50Z</dcterms:created>
  <dcterms:modified xsi:type="dcterms:W3CDTF">2026-03-09T06:49:54Z</dcterms:modified>
  <cp:category/>
</cp:coreProperties>
</file>