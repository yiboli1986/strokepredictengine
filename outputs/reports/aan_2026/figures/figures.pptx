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A855-2458-0003-7748-27B10B78A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3DC7A-5426-4CAC-E048-283E1C55E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BE7DE-C6F6-E0DF-0040-93F9C622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0BB74-6CDD-0F11-3D7C-30589D45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C6AA0-115D-D96B-5E64-1B9D44CA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7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ABCA-C4E6-E7B1-DE27-6C93F9A0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6846-FB51-6265-46DA-E6D3869B4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1C224-371F-25C5-6174-96DA4AAD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11A9C-FEAF-4D09-876A-794AB0C2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F2ED8-A7EE-62AC-3FC1-22552D97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E33D-B550-D80E-A966-00CE3F9B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BB35A-64A4-0D7F-3A1E-7C24BCE5D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51AF-B1F0-BC0B-E1AA-8714A1C6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45AA-09AC-3031-1861-D2094AFA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F4A4-FE4E-B5D8-0F25-D11A25C7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0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EAEC-A11F-937D-9AEA-3EF4413F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E107-8911-C31E-65E0-4208C9098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37FFC-C34D-8D03-94E5-D6E455BBC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CF88A-5CBC-0743-BD67-4241EA5B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0E631-8E73-A481-9186-36A50A0D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7B733-EA3D-7002-BFF2-C6200922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13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6A86-0A98-3BE0-2149-3C95546A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5D3C1-43E3-08CE-FD0E-DAC8F4503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CE9CF-CF5B-BE60-F1F5-4D0383630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E80A5-5639-5715-47E6-D841BCBA8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AC2FC-E443-1D7C-ABF4-C2F03125A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6A9DEE-AB0D-F970-F941-B3B00D86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D26FA-0503-3641-0590-BBA2DA18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315A2-8AD4-70DA-0317-75A312F5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4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5C54-0A1B-8F0D-7EB5-6D6CA9F8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4386C-731E-6922-00E5-BC98A42D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FE978-B005-8500-AFCF-766310E0E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C4900-8C68-4010-3547-05BDDB04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7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2A2AE-1B98-60EE-012D-7AD8D812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AC23D-0BBD-36B5-22E7-8B1B80C7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062A7-A340-291F-CA0E-F9EC0896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1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6B35-11AA-11EF-30A2-A5FC737B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4BD42-04D5-31A9-C0DD-7EBBBFF5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D77DF-DCE3-CA15-71A1-4B7C571BC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A49B0-AC88-8AD9-E97F-230FA483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258A5-FD72-B621-0111-203C6B65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FFA3D-36D9-69B2-79D2-13D9C8AC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8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63D3-7570-445F-D0F9-925E92CD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2DD29-47B3-21BF-CB55-99DC48C04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F0E65-0C27-D1EB-2CA1-812DF789D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D5B11-A7CA-9A65-A516-8CA490780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8AC2D-46EC-21B0-5544-0C9B1578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0A04D-01C0-93D4-A1CF-7262FD5D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62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6292-FC67-B9EF-5EB1-D9277EFF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D6483-F5B1-237F-0CD5-5B60580DB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162E7-77CE-AFE5-5B88-22DA811E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29E3-DB1F-4B08-969D-A5F80BFD3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F9236-8F8D-78D7-53E4-98C67F39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7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37082-B8E0-9F0E-F1F1-AA57637FE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24F9F-CC3A-4ADC-4BBA-780070C3F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29B85-7DAF-EA1E-2BFC-F3D897E4D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3296-00C1-6179-CC21-97EAC115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7D497-1F45-1EF0-C99C-F7243598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3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FB5CA9-0311-15FB-9AE7-E8125F8CB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87A41-A1A3-7BC0-A795-E2F15A7A2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3510A-8E20-6265-8CE9-BCD84EB6F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9C66D-8E29-4575-8609-D11CFA9B5B6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8E3-5132-9B21-6D3C-C198CD1EB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42F69-DCFF-6D64-9249-2C14380E3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4A507-2E12-41A2-8C3C-B7A1CF5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E6447B-6899-EC1C-FA88-7161147B9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976821"/>
              </p:ext>
            </p:extLst>
          </p:nvPr>
        </p:nvGraphicFramePr>
        <p:xfrm>
          <a:off x="1153813" y="2451930"/>
          <a:ext cx="3336706" cy="1442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353">
                  <a:extLst>
                    <a:ext uri="{9D8B030D-6E8A-4147-A177-3AD203B41FA5}">
                      <a16:colId xmlns:a16="http://schemas.microsoft.com/office/drawing/2014/main" val="1112184332"/>
                    </a:ext>
                  </a:extLst>
                </a:gridCol>
                <a:gridCol w="1668353">
                  <a:extLst>
                    <a:ext uri="{9D8B030D-6E8A-4147-A177-3AD203B41FA5}">
                      <a16:colId xmlns:a16="http://schemas.microsoft.com/office/drawing/2014/main" val="2678020545"/>
                    </a:ext>
                  </a:extLst>
                </a:gridCol>
              </a:tblGrid>
              <a:tr h="7214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 (TN)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(FN)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33484"/>
                  </a:ext>
                </a:extLst>
              </a:tr>
              <a:tr h="7214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(FP)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105 (TP)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3915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A37770-AE0B-AACC-64C1-58A01E30430B}"/>
              </a:ext>
            </a:extLst>
          </p:cNvPr>
          <p:cNvSpPr txBox="1"/>
          <p:nvPr/>
        </p:nvSpPr>
        <p:spPr>
          <a:xfrm>
            <a:off x="-1154328" y="2631119"/>
            <a:ext cx="232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Predicted No Stroke</a:t>
            </a:r>
            <a:r>
              <a:rPr lang="zh-CN" altLang="en-US" b="1" dirty="0"/>
              <a:t> 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6C0FE-1362-994A-7B4F-8E1F5F8D6A67}"/>
              </a:ext>
            </a:extLst>
          </p:cNvPr>
          <p:cNvSpPr txBox="1"/>
          <p:nvPr/>
        </p:nvSpPr>
        <p:spPr>
          <a:xfrm>
            <a:off x="-799227" y="3323710"/>
            <a:ext cx="191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Predicted Stroke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235CA-B199-9792-9CA4-4F59EDE7AC75}"/>
              </a:ext>
            </a:extLst>
          </p:cNvPr>
          <p:cNvSpPr txBox="1"/>
          <p:nvPr/>
        </p:nvSpPr>
        <p:spPr>
          <a:xfrm>
            <a:off x="1004932" y="1951601"/>
            <a:ext cx="1963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Actual No Stroke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96499-A7E7-23BC-12E8-DE37FE12598E}"/>
              </a:ext>
            </a:extLst>
          </p:cNvPr>
          <p:cNvSpPr txBox="1"/>
          <p:nvPr/>
        </p:nvSpPr>
        <p:spPr>
          <a:xfrm>
            <a:off x="2894594" y="1951601"/>
            <a:ext cx="159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Actual Stroke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4B2A9E-8088-2E24-BF37-7FA317A97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242345"/>
              </p:ext>
            </p:extLst>
          </p:nvPr>
        </p:nvGraphicFramePr>
        <p:xfrm>
          <a:off x="4775200" y="2451931"/>
          <a:ext cx="910376" cy="14429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376">
                  <a:extLst>
                    <a:ext uri="{9D8B030D-6E8A-4147-A177-3AD203B41FA5}">
                      <a16:colId xmlns:a16="http://schemas.microsoft.com/office/drawing/2014/main" val="1022687601"/>
                    </a:ext>
                  </a:extLst>
                </a:gridCol>
              </a:tblGrid>
              <a:tr h="7059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85807"/>
                  </a:ext>
                </a:extLst>
              </a:tr>
              <a:tr h="7370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1032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E1ACA1-8D79-1B47-2B00-22B96A52247A}"/>
              </a:ext>
            </a:extLst>
          </p:cNvPr>
          <p:cNvSpPr txBox="1"/>
          <p:nvPr/>
        </p:nvSpPr>
        <p:spPr>
          <a:xfrm>
            <a:off x="4841089" y="1951601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4B0F867-F829-3E69-048E-23971B570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88767"/>
              </p:ext>
            </p:extLst>
          </p:nvPr>
        </p:nvGraphicFramePr>
        <p:xfrm>
          <a:off x="1153813" y="4170580"/>
          <a:ext cx="33367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353">
                  <a:extLst>
                    <a:ext uri="{9D8B030D-6E8A-4147-A177-3AD203B41FA5}">
                      <a16:colId xmlns:a16="http://schemas.microsoft.com/office/drawing/2014/main" val="1987920792"/>
                    </a:ext>
                  </a:extLst>
                </a:gridCol>
                <a:gridCol w="1668353">
                  <a:extLst>
                    <a:ext uri="{9D8B030D-6E8A-4147-A177-3AD203B41FA5}">
                      <a16:colId xmlns:a16="http://schemas.microsoft.com/office/drawing/2014/main" val="4139853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4156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EDAC760-D084-7408-4593-1AA4E40891B2}"/>
              </a:ext>
            </a:extLst>
          </p:cNvPr>
          <p:cNvSpPr txBox="1"/>
          <p:nvPr/>
        </p:nvSpPr>
        <p:spPr>
          <a:xfrm>
            <a:off x="429533" y="4147897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47B243D-14D6-9E09-FACC-C73B8EADB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926375"/>
              </p:ext>
            </p:extLst>
          </p:nvPr>
        </p:nvGraphicFramePr>
        <p:xfrm>
          <a:off x="4775200" y="4170580"/>
          <a:ext cx="91037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376">
                  <a:extLst>
                    <a:ext uri="{9D8B030D-6E8A-4147-A177-3AD203B41FA5}">
                      <a16:colId xmlns:a16="http://schemas.microsoft.com/office/drawing/2014/main" val="4210278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47494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99106B3-CB15-2B91-C564-42362C940913}"/>
              </a:ext>
            </a:extLst>
          </p:cNvPr>
          <p:cNvSpPr txBox="1"/>
          <p:nvPr/>
        </p:nvSpPr>
        <p:spPr>
          <a:xfrm>
            <a:off x="2058154" y="1352097"/>
            <a:ext cx="1528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Baseline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0E5D89-8B26-4CA3-5580-1D049E4B2E06}"/>
              </a:ext>
            </a:extLst>
          </p:cNvPr>
          <p:cNvSpPr txBox="1"/>
          <p:nvPr/>
        </p:nvSpPr>
        <p:spPr>
          <a:xfrm>
            <a:off x="1048693" y="4794415"/>
            <a:ext cx="3586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Sensitivity = TP/(TP + FN) = 0.929</a:t>
            </a:r>
          </a:p>
          <a:p>
            <a:r>
              <a:rPr lang="en-US" dirty="0"/>
              <a:t>Specificity = TN/(TN + FP) = 0.652</a:t>
            </a:r>
          </a:p>
          <a:p>
            <a:r>
              <a:rPr lang="en-US" dirty="0"/>
              <a:t>Accuracy = 0.849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980C744-0053-43ED-8CB5-A53447B5F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032094"/>
              </p:ext>
            </p:extLst>
          </p:nvPr>
        </p:nvGraphicFramePr>
        <p:xfrm>
          <a:off x="8404141" y="2451930"/>
          <a:ext cx="3336706" cy="1442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353">
                  <a:extLst>
                    <a:ext uri="{9D8B030D-6E8A-4147-A177-3AD203B41FA5}">
                      <a16:colId xmlns:a16="http://schemas.microsoft.com/office/drawing/2014/main" val="1112184332"/>
                    </a:ext>
                  </a:extLst>
                </a:gridCol>
                <a:gridCol w="1668353">
                  <a:extLst>
                    <a:ext uri="{9D8B030D-6E8A-4147-A177-3AD203B41FA5}">
                      <a16:colId xmlns:a16="http://schemas.microsoft.com/office/drawing/2014/main" val="2678020545"/>
                    </a:ext>
                  </a:extLst>
                </a:gridCol>
              </a:tblGrid>
              <a:tr h="7214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 (TN)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(FN)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33484"/>
                  </a:ext>
                </a:extLst>
              </a:tr>
              <a:tr h="7214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 (FP)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 (TP)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39156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F0C6F7C-5FF3-ECFE-B344-D1B03EB53641}"/>
              </a:ext>
            </a:extLst>
          </p:cNvPr>
          <p:cNvSpPr txBox="1"/>
          <p:nvPr/>
        </p:nvSpPr>
        <p:spPr>
          <a:xfrm>
            <a:off x="6096000" y="2631119"/>
            <a:ext cx="232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Predicted No Stroke</a:t>
            </a:r>
            <a:r>
              <a:rPr lang="zh-CN" altLang="en-US" b="1" dirty="0"/>
              <a:t> 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8F9FE9-4F5B-5526-7511-E9C53AE7E60B}"/>
              </a:ext>
            </a:extLst>
          </p:cNvPr>
          <p:cNvSpPr txBox="1"/>
          <p:nvPr/>
        </p:nvSpPr>
        <p:spPr>
          <a:xfrm>
            <a:off x="6451101" y="3323710"/>
            <a:ext cx="191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Predicted Stroke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E75C4D-179A-FA7A-EEDF-141A7ABF5FFA}"/>
              </a:ext>
            </a:extLst>
          </p:cNvPr>
          <p:cNvSpPr txBox="1"/>
          <p:nvPr/>
        </p:nvSpPr>
        <p:spPr>
          <a:xfrm>
            <a:off x="8255260" y="1951601"/>
            <a:ext cx="1963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Actual No Stroke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AD3AD7-394E-0B06-4056-40834D6F6BDF}"/>
              </a:ext>
            </a:extLst>
          </p:cNvPr>
          <p:cNvSpPr txBox="1"/>
          <p:nvPr/>
        </p:nvSpPr>
        <p:spPr>
          <a:xfrm>
            <a:off x="10144922" y="1951601"/>
            <a:ext cx="159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Actual Stroke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8C61EF1-D6F9-871D-9820-4A62DBD75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080638"/>
              </p:ext>
            </p:extLst>
          </p:nvPr>
        </p:nvGraphicFramePr>
        <p:xfrm>
          <a:off x="12025528" y="2451931"/>
          <a:ext cx="910376" cy="14429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376">
                  <a:extLst>
                    <a:ext uri="{9D8B030D-6E8A-4147-A177-3AD203B41FA5}">
                      <a16:colId xmlns:a16="http://schemas.microsoft.com/office/drawing/2014/main" val="1022687601"/>
                    </a:ext>
                  </a:extLst>
                </a:gridCol>
              </a:tblGrid>
              <a:tr h="7059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85807"/>
                  </a:ext>
                </a:extLst>
              </a:tr>
              <a:tr h="7370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10321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426E6C9-38BB-5929-3A78-FFFD85649FFE}"/>
              </a:ext>
            </a:extLst>
          </p:cNvPr>
          <p:cNvSpPr txBox="1"/>
          <p:nvPr/>
        </p:nvSpPr>
        <p:spPr>
          <a:xfrm>
            <a:off x="12091417" y="1951601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2342186-DC7C-5081-CDC9-3731E7FBB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11337"/>
              </p:ext>
            </p:extLst>
          </p:nvPr>
        </p:nvGraphicFramePr>
        <p:xfrm>
          <a:off x="8404141" y="4170580"/>
          <a:ext cx="33367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353">
                  <a:extLst>
                    <a:ext uri="{9D8B030D-6E8A-4147-A177-3AD203B41FA5}">
                      <a16:colId xmlns:a16="http://schemas.microsoft.com/office/drawing/2014/main" val="1987920792"/>
                    </a:ext>
                  </a:extLst>
                </a:gridCol>
                <a:gridCol w="1668353">
                  <a:extLst>
                    <a:ext uri="{9D8B030D-6E8A-4147-A177-3AD203B41FA5}">
                      <a16:colId xmlns:a16="http://schemas.microsoft.com/office/drawing/2014/main" val="4139853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4156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DFFFDF5-6F57-9EF7-F5ED-CC3B2FBFE3D8}"/>
              </a:ext>
            </a:extLst>
          </p:cNvPr>
          <p:cNvSpPr txBox="1"/>
          <p:nvPr/>
        </p:nvSpPr>
        <p:spPr>
          <a:xfrm>
            <a:off x="7679861" y="4147897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011D9E6-94EC-7B4F-C00D-54774BFDB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350587"/>
              </p:ext>
            </p:extLst>
          </p:nvPr>
        </p:nvGraphicFramePr>
        <p:xfrm>
          <a:off x="12025528" y="4170580"/>
          <a:ext cx="91037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376">
                  <a:extLst>
                    <a:ext uri="{9D8B030D-6E8A-4147-A177-3AD203B41FA5}">
                      <a16:colId xmlns:a16="http://schemas.microsoft.com/office/drawing/2014/main" val="4210278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47494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8ADA75C-0678-3E4B-1E14-D876D13F609E}"/>
              </a:ext>
            </a:extLst>
          </p:cNvPr>
          <p:cNvSpPr txBox="1"/>
          <p:nvPr/>
        </p:nvSpPr>
        <p:spPr>
          <a:xfrm>
            <a:off x="9060271" y="1352097"/>
            <a:ext cx="2316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Cohort-Routed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D64F44-736B-5788-CC57-4F2247E3303A}"/>
              </a:ext>
            </a:extLst>
          </p:cNvPr>
          <p:cNvSpPr txBox="1"/>
          <p:nvPr/>
        </p:nvSpPr>
        <p:spPr>
          <a:xfrm>
            <a:off x="8299021" y="4794415"/>
            <a:ext cx="3586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Sensitivity = TP/(TP + FN) = 0.965</a:t>
            </a:r>
          </a:p>
          <a:p>
            <a:r>
              <a:rPr lang="en-US" dirty="0"/>
              <a:t>Specificity = TN/(TN + FP) = 0.630</a:t>
            </a:r>
          </a:p>
          <a:p>
            <a:r>
              <a:rPr lang="en-US" dirty="0"/>
              <a:t>Accuracy = 0.868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43AFA9-40E1-4D1D-751E-6F2E7F4E4422}"/>
              </a:ext>
            </a:extLst>
          </p:cNvPr>
          <p:cNvSpPr txBox="1"/>
          <p:nvPr/>
        </p:nvSpPr>
        <p:spPr>
          <a:xfrm>
            <a:off x="2561386" y="547542"/>
            <a:ext cx="8381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Confusion Matrix – Random Forest (Operating Threshold = 0.5)</a:t>
            </a:r>
          </a:p>
        </p:txBody>
      </p:sp>
    </p:spTree>
    <p:extLst>
      <p:ext uri="{BB962C8B-B14F-4D97-AF65-F5344CB8AC3E}">
        <p14:creationId xmlns:p14="http://schemas.microsoft.com/office/powerpoint/2010/main" val="279765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6CE534-693F-3681-6294-5FFA23515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220339"/>
              </p:ext>
            </p:extLst>
          </p:nvPr>
        </p:nvGraphicFramePr>
        <p:xfrm>
          <a:off x="203199" y="68826"/>
          <a:ext cx="6610557" cy="2219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3519">
                  <a:extLst>
                    <a:ext uri="{9D8B030D-6E8A-4147-A177-3AD203B41FA5}">
                      <a16:colId xmlns:a16="http://schemas.microsoft.com/office/drawing/2014/main" val="15109396"/>
                    </a:ext>
                  </a:extLst>
                </a:gridCol>
                <a:gridCol w="2203519">
                  <a:extLst>
                    <a:ext uri="{9D8B030D-6E8A-4147-A177-3AD203B41FA5}">
                      <a16:colId xmlns:a16="http://schemas.microsoft.com/office/drawing/2014/main" val="135422154"/>
                    </a:ext>
                  </a:extLst>
                </a:gridCol>
                <a:gridCol w="2203519">
                  <a:extLst>
                    <a:ext uri="{9D8B030D-6E8A-4147-A177-3AD203B41FA5}">
                      <a16:colId xmlns:a16="http://schemas.microsoft.com/office/drawing/2014/main" val="2011762742"/>
                    </a:ext>
                  </a:extLst>
                </a:gridCol>
              </a:tblGrid>
              <a:tr h="369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r>
                        <a:rPr lang="en-US" altLang="zh-CN" dirty="0"/>
                        <a:t>emographic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Non-stroke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812192"/>
                  </a:ext>
                </a:extLst>
              </a:tr>
              <a:tr h="369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 (median)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003343"/>
                  </a:ext>
                </a:extLst>
              </a:tr>
              <a:tr h="369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Sex (% female)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46.9%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274624"/>
                  </a:ext>
                </a:extLst>
              </a:tr>
              <a:tr h="369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Race (% black)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418347"/>
                  </a:ext>
                </a:extLst>
              </a:tr>
              <a:tr h="369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Facial droop (%)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423968"/>
                  </a:ext>
                </a:extLst>
              </a:tr>
              <a:tr h="369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NIHSS (median)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4122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C3F8E1-1DDC-5E55-2358-4447E3B07217}"/>
              </a:ext>
            </a:extLst>
          </p:cNvPr>
          <p:cNvSpPr txBox="1"/>
          <p:nvPr/>
        </p:nvSpPr>
        <p:spPr>
          <a:xfrm>
            <a:off x="203199" y="2445556"/>
            <a:ext cx="88424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Demographics table details:</a:t>
            </a:r>
            <a:endParaRPr lang="en-US" dirty="0"/>
          </a:p>
          <a:p>
            <a:pPr>
              <a:buNone/>
            </a:pPr>
            <a:r>
              <a:rPr lang="en-US" dirty="0"/>
              <a:t>The demographics table is computed on the same </a:t>
            </a:r>
            <a:r>
              <a:rPr lang="en-US" b="1" dirty="0"/>
              <a:t>159-patient evaluation cohort</a:t>
            </a:r>
            <a:r>
              <a:rPr lang="en-US" dirty="0"/>
              <a:t> used for the ROC curves and confusion matrix. This cohort corresponds exactly to the held-out test set used in the model evaluation.</a:t>
            </a:r>
          </a:p>
          <a:p>
            <a:pPr>
              <a:buNone/>
            </a:pPr>
            <a:r>
              <a:rPr lang="en-US" dirty="0"/>
              <a:t>Patients are grouped by the observed outcome (</a:t>
            </a:r>
            <a:r>
              <a:rPr lang="en-US" b="1" dirty="0"/>
              <a:t>Stroke vs Non-stroke</a:t>
            </a:r>
            <a:r>
              <a:rPr lang="en-US" dirty="0"/>
              <a:t>) using the ground-truth labels from the evaluation set. For each group, we summarize key clinical variables as follows: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b="1" dirty="0"/>
              <a:t>Age</a:t>
            </a:r>
            <a:r>
              <a:rPr lang="en-US" dirty="0"/>
              <a:t> and </a:t>
            </a:r>
            <a:r>
              <a:rPr lang="en-US" b="1" dirty="0"/>
              <a:t>NIHSS</a:t>
            </a:r>
            <a:r>
              <a:rPr lang="en-US" dirty="0"/>
              <a:t> are reported as </a:t>
            </a:r>
            <a:r>
              <a:rPr lang="en-US" b="1" dirty="0"/>
              <a:t>medians</a:t>
            </a:r>
            <a:r>
              <a:rPr lang="en-US" dirty="0"/>
              <a:t>. Values are shown in clinical units (years for age, 0–42 scale for NIHSS).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Sex</a:t>
            </a:r>
            <a:r>
              <a:rPr lang="en-US" dirty="0"/>
              <a:t>, </a:t>
            </a:r>
            <a:r>
              <a:rPr lang="en-US" b="1" dirty="0"/>
              <a:t>race</a:t>
            </a:r>
            <a:r>
              <a:rPr lang="en-US" dirty="0"/>
              <a:t>, and </a:t>
            </a:r>
            <a:r>
              <a:rPr lang="en-US" b="1" dirty="0"/>
              <a:t>facial droop</a:t>
            </a:r>
            <a:r>
              <a:rPr lang="en-US" dirty="0"/>
              <a:t> are reported as </a:t>
            </a:r>
            <a:r>
              <a:rPr lang="en-US" b="1" dirty="0"/>
              <a:t>percentages</a:t>
            </a:r>
            <a:r>
              <a:rPr lang="en-US" dirty="0"/>
              <a:t> within each group.</a:t>
            </a:r>
            <a:br>
              <a:rPr lang="en-US" dirty="0"/>
            </a:br>
            <a:r>
              <a:rPr lang="en-US" dirty="0"/>
              <a:t>• Importantly, the non-stroke cohort includes a non-zero proportion of patients with facial droop, confirming that the classification task is non-trivial and clinically realistic.</a:t>
            </a:r>
          </a:p>
          <a:p>
            <a:pPr>
              <a:buNone/>
            </a:pPr>
            <a:r>
              <a:rPr lang="en-US" dirty="0"/>
              <a:t>This table is intended to verify cohort comparability and clinical plausibility of the evaluation set and aligns directly with the performance metrics reported in the ROC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1377851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338</Words>
  <Application>Microsoft Office PowerPoint</Application>
  <PresentationFormat>Widescreen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Yibo Li</dc:creator>
  <cp:lastModifiedBy>Yibo Li</cp:lastModifiedBy>
  <cp:revision>30</cp:revision>
  <dcterms:created xsi:type="dcterms:W3CDTF">2026-02-21T00:53:37Z</dcterms:created>
  <dcterms:modified xsi:type="dcterms:W3CDTF">2026-02-25T06:19:12Z</dcterms:modified>
</cp:coreProperties>
</file>